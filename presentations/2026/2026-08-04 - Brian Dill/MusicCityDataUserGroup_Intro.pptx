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3.svg" ContentType="image/svg+xml"/>
  <Override PartName="/ppt/media/image5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6" r:id="rId2"/>
    <p:sldId id="326" r:id="rId3"/>
    <p:sldId id="277" r:id="rId4"/>
    <p:sldId id="319" r:id="rId5"/>
    <p:sldId id="329" r:id="rId6"/>
    <p:sldId id="322" r:id="rId7"/>
    <p:sldId id="321" r:id="rId8"/>
    <p:sldId id="327" r:id="rId9"/>
    <p:sldId id="320" r:id="rId10"/>
    <p:sldId id="332" r:id="rId11"/>
    <p:sldId id="316" r:id="rId12"/>
    <p:sldId id="330" r:id="rId13"/>
    <p:sldId id="328" r:id="rId14"/>
    <p:sldId id="324" r:id="rId15"/>
    <p:sldId id="331" r:id="rId16"/>
    <p:sldId id="309" r:id="rId17"/>
    <p:sldId id="325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57"/>
    <a:srgbClr val="002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46960-FDEE-4B3D-B811-CBEF359E3827}" v="2" dt="2026-08-04T12:14:10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Romans" userId="b1594dadafe83612" providerId="LiveId" clId="{CBB49B5A-BAC4-4EF9-90F7-6CF68F907A02}"/>
    <pc:docChg chg="custSel modSld sldOrd">
      <pc:chgData name="Jason Romans" userId="b1594dadafe83612" providerId="LiveId" clId="{CBB49B5A-BAC4-4EF9-90F7-6CF68F907A02}" dt="2026-08-04T12:14:52.037" v="298" actId="20577"/>
      <pc:docMkLst>
        <pc:docMk/>
      </pc:docMkLst>
      <pc:sldChg chg="modSp mod">
        <pc:chgData name="Jason Romans" userId="b1594dadafe83612" providerId="LiveId" clId="{CBB49B5A-BAC4-4EF9-90F7-6CF68F907A02}" dt="2026-08-04T11:35:40.877" v="110" actId="20577"/>
        <pc:sldMkLst>
          <pc:docMk/>
          <pc:sldMk cId="3817928628" sldId="320"/>
        </pc:sldMkLst>
        <pc:spChg chg="mod">
          <ac:chgData name="Jason Romans" userId="b1594dadafe83612" providerId="LiveId" clId="{CBB49B5A-BAC4-4EF9-90F7-6CF68F907A02}" dt="2026-08-04T11:35:40.877" v="110" actId="20577"/>
          <ac:spMkLst>
            <pc:docMk/>
            <pc:sldMk cId="3817928628" sldId="320"/>
            <ac:spMk id="3" creationId="{5AD4DBF2-3F34-595E-166F-D2D27E336135}"/>
          </ac:spMkLst>
        </pc:spChg>
      </pc:sldChg>
      <pc:sldChg chg="ord">
        <pc:chgData name="Jason Romans" userId="b1594dadafe83612" providerId="LiveId" clId="{CBB49B5A-BAC4-4EF9-90F7-6CF68F907A02}" dt="2026-08-04T11:37:43.734" v="114"/>
        <pc:sldMkLst>
          <pc:docMk/>
          <pc:sldMk cId="940893333" sldId="321"/>
        </pc:sldMkLst>
      </pc:sldChg>
      <pc:sldChg chg="ord">
        <pc:chgData name="Jason Romans" userId="b1594dadafe83612" providerId="LiveId" clId="{CBB49B5A-BAC4-4EF9-90F7-6CF68F907A02}" dt="2026-08-04T11:37:41.852" v="112"/>
        <pc:sldMkLst>
          <pc:docMk/>
          <pc:sldMk cId="3548343777" sldId="322"/>
        </pc:sldMkLst>
      </pc:sldChg>
      <pc:sldChg chg="modSp mod">
        <pc:chgData name="Jason Romans" userId="b1594dadafe83612" providerId="LiveId" clId="{CBB49B5A-BAC4-4EF9-90F7-6CF68F907A02}" dt="2026-08-04T11:15:06.017" v="32" actId="1076"/>
        <pc:sldMkLst>
          <pc:docMk/>
          <pc:sldMk cId="2228220767" sldId="324"/>
        </pc:sldMkLst>
        <pc:spChg chg="mod">
          <ac:chgData name="Jason Romans" userId="b1594dadafe83612" providerId="LiveId" clId="{CBB49B5A-BAC4-4EF9-90F7-6CF68F907A02}" dt="2026-08-03T19:38:48.188" v="31" actId="20577"/>
          <ac:spMkLst>
            <pc:docMk/>
            <pc:sldMk cId="2228220767" sldId="324"/>
            <ac:spMk id="2" creationId="{CD7F5A7D-1386-35C8-0AEF-F15DA05D57D7}"/>
          </ac:spMkLst>
        </pc:spChg>
        <pc:spChg chg="mod">
          <ac:chgData name="Jason Romans" userId="b1594dadafe83612" providerId="LiveId" clId="{CBB49B5A-BAC4-4EF9-90F7-6CF68F907A02}" dt="2026-08-04T11:15:06.017" v="32" actId="1076"/>
          <ac:spMkLst>
            <pc:docMk/>
            <pc:sldMk cId="2228220767" sldId="324"/>
            <ac:spMk id="100" creationId="{00000000-0000-0000-0000-000000000000}"/>
          </ac:spMkLst>
        </pc:spChg>
        <pc:picChg chg="mod">
          <ac:chgData name="Jason Romans" userId="b1594dadafe83612" providerId="LiveId" clId="{CBB49B5A-BAC4-4EF9-90F7-6CF68F907A02}" dt="2026-08-03T19:38:29.704" v="21" actId="1076"/>
          <ac:picMkLst>
            <pc:docMk/>
            <pc:sldMk cId="2228220767" sldId="324"/>
            <ac:picMk id="101" creationId="{00000000-0000-0000-0000-000000000000}"/>
          </ac:picMkLst>
        </pc:picChg>
      </pc:sldChg>
      <pc:sldChg chg="modSp mod">
        <pc:chgData name="Jason Romans" userId="b1594dadafe83612" providerId="LiveId" clId="{CBB49B5A-BAC4-4EF9-90F7-6CF68F907A02}" dt="2026-07-22T11:21:30.882" v="11" actId="14100"/>
        <pc:sldMkLst>
          <pc:docMk/>
          <pc:sldMk cId="2432914864" sldId="325"/>
        </pc:sldMkLst>
        <pc:spChg chg="mod">
          <ac:chgData name="Jason Romans" userId="b1594dadafe83612" providerId="LiveId" clId="{CBB49B5A-BAC4-4EF9-90F7-6CF68F907A02}" dt="2026-07-22T11:21:30.882" v="11" actId="14100"/>
          <ac:spMkLst>
            <pc:docMk/>
            <pc:sldMk cId="2432914864" sldId="325"/>
            <ac:spMk id="3" creationId="{A4A527D4-9C19-7A0B-EB54-5D406C33B71E}"/>
          </ac:spMkLst>
        </pc:spChg>
      </pc:sldChg>
      <pc:sldChg chg="modSp mod">
        <pc:chgData name="Jason Romans" userId="b1594dadafe83612" providerId="LiveId" clId="{CBB49B5A-BAC4-4EF9-90F7-6CF68F907A02}" dt="2026-08-04T11:34:11.976" v="106" actId="20577"/>
        <pc:sldMkLst>
          <pc:docMk/>
          <pc:sldMk cId="4131868750" sldId="328"/>
        </pc:sldMkLst>
        <pc:spChg chg="mod">
          <ac:chgData name="Jason Romans" userId="b1594dadafe83612" providerId="LiveId" clId="{CBB49B5A-BAC4-4EF9-90F7-6CF68F907A02}" dt="2026-08-04T11:34:11.976" v="106" actId="20577"/>
          <ac:spMkLst>
            <pc:docMk/>
            <pc:sldMk cId="4131868750" sldId="328"/>
            <ac:spMk id="3" creationId="{0701E1F7-FF31-F38D-E881-585BFEDD8D03}"/>
          </ac:spMkLst>
        </pc:spChg>
      </pc:sldChg>
      <pc:sldChg chg="modSp mod">
        <pc:chgData name="Jason Romans" userId="b1594dadafe83612" providerId="LiveId" clId="{CBB49B5A-BAC4-4EF9-90F7-6CF68F907A02}" dt="2026-08-04T11:23:12.919" v="97" actId="20577"/>
        <pc:sldMkLst>
          <pc:docMk/>
          <pc:sldMk cId="3127805255" sldId="329"/>
        </pc:sldMkLst>
        <pc:spChg chg="mod">
          <ac:chgData name="Jason Romans" userId="b1594dadafe83612" providerId="LiveId" clId="{CBB49B5A-BAC4-4EF9-90F7-6CF68F907A02}" dt="2026-08-04T11:23:12.919" v="97" actId="20577"/>
          <ac:spMkLst>
            <pc:docMk/>
            <pc:sldMk cId="3127805255" sldId="329"/>
            <ac:spMk id="3" creationId="{275C6940-6845-5BA1-B3E9-932D404CB497}"/>
          </ac:spMkLst>
        </pc:spChg>
      </pc:sldChg>
      <pc:sldChg chg="modSp mod">
        <pc:chgData name="Jason Romans" userId="b1594dadafe83612" providerId="LiveId" clId="{CBB49B5A-BAC4-4EF9-90F7-6CF68F907A02}" dt="2026-08-04T12:14:52.037" v="298" actId="20577"/>
        <pc:sldMkLst>
          <pc:docMk/>
          <pc:sldMk cId="3127805255" sldId="331"/>
        </pc:sldMkLst>
        <pc:spChg chg="mod">
          <ac:chgData name="Jason Romans" userId="b1594dadafe83612" providerId="LiveId" clId="{CBB49B5A-BAC4-4EF9-90F7-6CF68F907A02}" dt="2026-08-04T12:14:52.037" v="298" actId="20577"/>
          <ac:spMkLst>
            <pc:docMk/>
            <pc:sldMk cId="3127805255" sldId="331"/>
            <ac:spMk id="3" creationId="{275C6940-6845-5BA1-B3E9-932D404CB497}"/>
          </ac:spMkLst>
        </pc:spChg>
      </pc:sldChg>
      <pc:sldChg chg="modSp mod">
        <pc:chgData name="Jason Romans" userId="b1594dadafe83612" providerId="LiveId" clId="{CBB49B5A-BAC4-4EF9-90F7-6CF68F907A02}" dt="2026-08-04T11:33:41.773" v="105" actId="20577"/>
        <pc:sldMkLst>
          <pc:docMk/>
          <pc:sldMk cId="3817928628" sldId="332"/>
        </pc:sldMkLst>
        <pc:spChg chg="mod">
          <ac:chgData name="Jason Romans" userId="b1594dadafe83612" providerId="LiveId" clId="{CBB49B5A-BAC4-4EF9-90F7-6CF68F907A02}" dt="2026-08-04T11:33:41.773" v="105" actId="20577"/>
          <ac:spMkLst>
            <pc:docMk/>
            <pc:sldMk cId="3817928628" sldId="332"/>
            <ac:spMk id="3" creationId="{5AD4DBF2-3F34-595E-166F-D2D27E336135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8CAEB-CE9B-77F3-B5E9-50DED8505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92264-B9EB-BD89-5171-8273E9A51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48F7A-6310-DCB2-68B1-0C391026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6B906-4695-E4D4-A0C8-D0EA0088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83081-2E5C-434D-E5EF-57E93935B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2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8433-CA14-0B1A-DAF8-7216AA4F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7498A-69E0-DF03-DD0C-AA0CCCE41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0AF42-4B71-12FC-1F50-0722EA81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D4BFD-FC87-FA67-3870-622C9489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D468D-8582-47E4-6EEC-E611C1BD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78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3E9A-FEB3-93B6-688E-4EE58C26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458B2-343C-D73E-6A8D-A4D9C2B68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E5333-B1D2-F8EB-4AC6-6E8718060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C7B85-670D-7265-2487-FB3EA00C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CA04A-1388-73C9-A886-72D558FA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3EA36-E2A3-8A45-55A5-94FED6B14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0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5314-AA25-2495-A0D6-925CE0DDC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53397-4D35-611C-0F37-1B0C05A15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6C391-0DE1-0394-023C-E78B22F63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70796-7BD7-ACEA-9660-6DF384E51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700C5-2EA7-B8FF-A4C3-BDFB14B91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3511D-C6FB-C3A6-E182-A0BD80DD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C10AE-F8E0-CEFC-859C-E81376A1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CF9D0-01D5-443C-9631-CEC1F3D4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29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E3FD-1D73-AE3B-DB24-6F0F866F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71B88-DBFC-9B56-4921-2B73C5B7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8A218-F92D-474F-0DAE-AD727C95A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DA300-E34C-F0E0-1B69-4666B67C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1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B0A39C-C260-31BB-3D4B-1D4858FF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2276A-1EE5-3199-7849-5D456055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54E86-96F3-496A-BEAD-4DC813D1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2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36F5-8440-108C-3443-79A27B41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3601-3333-7A50-7136-021572B0C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3C6DA-C719-189D-FFA2-48CEAC316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56B15-21A9-D466-A598-7E2269DE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17ACB-2F46-D14C-C325-1273C013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8F4C9-2E7F-F9C4-65E8-02DB8B108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3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E8D4-8427-48F9-4D9C-BE38EB85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5460C-929A-E8BB-0E39-76BB65582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2E3D8-C103-93AD-767D-D38AB08B2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B1316-93F7-F6EC-A286-8AEFDA705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DA6C5-AB91-519A-1088-DA6928FC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DA90F-84B7-51D8-E894-9AD16D08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D33D-7060-9EE5-E361-1230A62C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ADD58-68A2-6AE6-BEFA-AAE31022A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BDD63-FF9A-C45C-A3D5-BA632565C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CEE69-FD6D-FF26-8F1E-B7A1C930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A3BB5-9E17-1661-DA49-726C9112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7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119EB-793F-CDC2-CD3E-9D8E5238A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30ED3-1E83-4DB1-A5FD-A25AC08DF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29256-6B1D-6A66-0C51-5C442FF4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ECFC4-3325-A3E5-C634-9369DC5D3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44FCB-AA82-B236-48FC-85A61A6DB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148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E86D2-F3F5-B688-606C-5E20F3DB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66349-A3E4-166E-408B-C1491E5E2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5EB95-B37B-51B0-81C5-82CDFC6BA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32A21-CB4B-4B76-9A8C-2BF5F612A4AF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C7A49-192E-8E87-1B01-A001EB170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1FB5-649C-0BA6-95B4-760A3C325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Line"/>
          <p:cNvSpPr/>
          <p:nvPr/>
        </p:nvSpPr>
        <p:spPr>
          <a:xfrm>
            <a:off x="0" y="6540500"/>
            <a:ext cx="12192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N101"/>
          <p:cNvSpPr/>
          <p:nvPr/>
        </p:nvSpPr>
        <p:spPr>
          <a:xfrm>
            <a:off x="11049000" y="5778500"/>
            <a:ext cx="88900" cy="889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102"/>
          <p:cNvSpPr/>
          <p:nvPr/>
        </p:nvSpPr>
        <p:spPr>
          <a:xfrm>
            <a:off x="11493500" y="6032500"/>
            <a:ext cx="63500" cy="635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N103"/>
          <p:cNvSpPr/>
          <p:nvPr/>
        </p:nvSpPr>
        <p:spPr>
          <a:xfrm>
            <a:off x="11239500" y="6350000"/>
            <a:ext cx="50800" cy="508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N104"/>
          <p:cNvSpPr/>
          <p:nvPr/>
        </p:nvSpPr>
        <p:spPr>
          <a:xfrm>
            <a:off x="11874500" y="5651500"/>
            <a:ext cx="76200" cy="762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N105"/>
          <p:cNvSpPr/>
          <p:nvPr/>
        </p:nvSpPr>
        <p:spPr>
          <a:xfrm>
            <a:off x="11684000" y="6223000"/>
            <a:ext cx="38100" cy="381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0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FFFFFF"/>
          </a:solidFill>
        </a:defRPr>
      </a:defPPr>
      <a:lvl1pPr marL="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mmunity.fabric.microsoft.com/t5/custom/page/page-id/campaign_form?campaignID=Y2FtcGFpZ24tMTc4MTEyMjc2OTc0NA==&amp;WT.mc_id=studentamb_165290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svg"/><Relationship Id="rId3" Type="http://schemas.openxmlformats.org/officeDocument/2006/relationships/image" Target="../media/image6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09810F-9F5D-8249-B8CC-C822A0B8F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9500507"/>
          </a:xfrm>
          <a:prstGeom prst="rect">
            <a:avLst/>
          </a:prstGeom>
        </p:spPr>
      </p:pic>
      <p:sp>
        <p:nvSpPr>
          <p:cNvPr id="10" name="WelcomeTo"/>
          <p:cNvSpPr txBox="1"/>
          <p:nvPr/>
        </p:nvSpPr>
        <p:spPr>
          <a:xfrm>
            <a:off x="1524000" y="177800"/>
            <a:ext cx="9144000" cy="533400"/>
          </a:xfrm>
          <a:prstGeom prst="rect">
            <a:avLst/>
          </a:prstGeom>
          <a:noFill/>
        </p:spPr>
        <p:txBody>
          <a:bodyPr wrap="square" anchor="b"/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Welcome to</a:t>
            </a:r>
          </a:p>
        </p:txBody>
      </p:sp>
      <p:sp>
        <p:nvSpPr>
          <p:cNvPr id="11" name="GroupName"/>
          <p:cNvSpPr txBox="1"/>
          <p:nvPr/>
        </p:nvSpPr>
        <p:spPr>
          <a:xfrm>
            <a:off x="762000" y="533400"/>
            <a:ext cx="10668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4800" b="1" dirty="0">
                <a:solidFill>
                  <a:srgbClr val="FFFFFF"/>
                </a:solidFill>
              </a:rPr>
              <a:t>Music City Data User Group</a:t>
            </a:r>
          </a:p>
        </p:txBody>
      </p:sp>
      <p:sp>
        <p:nvSpPr>
          <p:cNvPr id="12" name="TitleAccent"/>
          <p:cNvSpPr/>
          <p:nvPr/>
        </p:nvSpPr>
        <p:spPr>
          <a:xfrm>
            <a:off x="4191000" y="1778000"/>
            <a:ext cx="3810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13" name="Tagline"/>
          <p:cNvSpPr txBox="1"/>
          <p:nvPr/>
        </p:nvSpPr>
        <p:spPr>
          <a:xfrm>
            <a:off x="1524000" y="1981200"/>
            <a:ext cx="9144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200" dirty="0">
                <a:solidFill>
                  <a:srgbClr val="16C0C8"/>
                </a:solidFill>
              </a:rPr>
              <a:t>Nashville's SQL Server &amp; Microsoft Data Platform Community</a:t>
            </a:r>
          </a:p>
        </p:txBody>
      </p:sp>
      <p:sp>
        <p:nvSpPr>
          <p:cNvPr id="14" name="DateSpeaker"/>
          <p:cNvSpPr txBox="1"/>
          <p:nvPr/>
        </p:nvSpPr>
        <p:spPr>
          <a:xfrm>
            <a:off x="1524000" y="2667000"/>
            <a:ext cx="9144000" cy="482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Tuesday, August 4, 2026  ·  Tonight's Speaker: Brian Dill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E7507-2CA4-01B4-342D-1729A84FC6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/>
        </p:blipFill>
        <p:spPr>
          <a:xfrm>
            <a:off x="4859790" y="3022600"/>
            <a:ext cx="1887537" cy="18875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3851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E435-98F2-0C99-799F-B828140F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89F7-88E7-C10A-FAE1-2559241C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FFFF"/>
                </a:solidFill>
              </a:rPr>
              <a:t>Tonight's Agenda</a:t>
            </a:r>
          </a:p>
        </p:txBody>
      </p:sp>
      <p:sp>
        <p:nvSpPr>
          <p:cNvPr id="202" name="AgendaItem202"/>
          <p:cNvSpPr txBox="1"/>
          <p:nvPr/>
        </p:nvSpPr>
        <p:spPr>
          <a:xfrm>
            <a:off x="1203960" y="1473800"/>
            <a:ext cx="9144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6C0C8"/>
                </a:solidFill>
              </a:rPr>
              <a:t>5:30 – 6:00</a:t>
            </a:r>
            <a:r>
              <a:rPr lang="en-US" sz="1900" b="1" dirty="0">
                <a:solidFill>
                  <a:srgbClr val="FFFFFF"/>
                </a:solidFill>
              </a:rPr>
              <a:t>    Networking, Food &amp; Drinks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</a:rPr>
              <a:t>Grab a seat, meet fellow data pros</a:t>
            </a:r>
          </a:p>
        </p:txBody>
      </p:sp>
      <p:sp>
        <p:nvSpPr>
          <p:cNvPr id="200" name="Dot200"/>
          <p:cNvSpPr/>
          <p:nvPr/>
        </p:nvSpPr>
        <p:spPr>
          <a:xfrm>
            <a:off x="838200" y="15500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1" name="Line201"/>
          <p:cNvSpPr/>
          <p:nvPr/>
        </p:nvSpPr>
        <p:spPr>
          <a:xfrm>
            <a:off x="914400" y="1753200"/>
            <a:ext cx="19050" cy="769000"/>
          </a:xfrm>
          <a:prstGeom prst="rect">
            <a:avLst/>
          </a:prstGeom>
          <a:solidFill>
            <a:srgbClr val="16C0C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5" name="AgendaItem205"/>
          <p:cNvSpPr txBox="1"/>
          <p:nvPr/>
        </p:nvSpPr>
        <p:spPr>
          <a:xfrm>
            <a:off x="1203960" y="2623800"/>
            <a:ext cx="9144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6C0C8"/>
                </a:solidFill>
              </a:rPr>
              <a:t>6:00 – 6:15</a:t>
            </a:r>
            <a:r>
              <a:rPr lang="en-US" sz="1900" b="1" dirty="0">
                <a:solidFill>
                  <a:srgbClr val="FFFFFF"/>
                </a:solidFill>
              </a:rPr>
              <a:t>    Welcome &amp; Announcements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</a:rPr>
              <a:t>Community updates</a:t>
            </a:r>
          </a:p>
        </p:txBody>
      </p:sp>
      <p:sp>
        <p:nvSpPr>
          <p:cNvPr id="203" name="Dot203"/>
          <p:cNvSpPr/>
          <p:nvPr/>
        </p:nvSpPr>
        <p:spPr>
          <a:xfrm>
            <a:off x="838200" y="27000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4" name="Line204"/>
          <p:cNvSpPr/>
          <p:nvPr/>
        </p:nvSpPr>
        <p:spPr>
          <a:xfrm>
            <a:off x="914400" y="2903200"/>
            <a:ext cx="19050" cy="769000"/>
          </a:xfrm>
          <a:prstGeom prst="rect">
            <a:avLst/>
          </a:prstGeom>
          <a:solidFill>
            <a:srgbClr val="16C0C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8" name="AgendaItem208"/>
          <p:cNvSpPr txBox="1"/>
          <p:nvPr/>
        </p:nvSpPr>
        <p:spPr>
          <a:xfrm>
            <a:off x="1203960" y="3773800"/>
            <a:ext cx="9144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6C0C8"/>
                </a:solidFill>
              </a:rPr>
              <a:t>6:15 – 7:15</a:t>
            </a:r>
            <a:r>
              <a:rPr lang="en-US" sz="1900" b="1" dirty="0">
                <a:solidFill>
                  <a:srgbClr val="FFFFFF"/>
                </a:solidFill>
              </a:rPr>
              <a:t>    Presentation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</a:rPr>
              <a:t>DuckDB 101 - Zero to 500 Million in Less Than a Second</a:t>
            </a:r>
          </a:p>
        </p:txBody>
      </p:sp>
      <p:sp>
        <p:nvSpPr>
          <p:cNvPr id="206" name="Dot206"/>
          <p:cNvSpPr/>
          <p:nvPr/>
        </p:nvSpPr>
        <p:spPr>
          <a:xfrm>
            <a:off x="838200" y="38500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7" name="Line207"/>
          <p:cNvSpPr/>
          <p:nvPr/>
        </p:nvSpPr>
        <p:spPr>
          <a:xfrm>
            <a:off x="914400" y="4053200"/>
            <a:ext cx="19050" cy="769000"/>
          </a:xfrm>
          <a:prstGeom prst="rect">
            <a:avLst/>
          </a:prstGeom>
          <a:solidFill>
            <a:srgbClr val="16C0C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10" name="AgendaItem210"/>
          <p:cNvSpPr txBox="1"/>
          <p:nvPr/>
        </p:nvSpPr>
        <p:spPr>
          <a:xfrm>
            <a:off x="1203960" y="4923800"/>
            <a:ext cx="9144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6C0C8"/>
                </a:solidFill>
              </a:rPr>
              <a:t>7:15 – 7:30</a:t>
            </a:r>
            <a:r>
              <a:rPr lang="en-US" sz="1900" b="1" dirty="0">
                <a:solidFill>
                  <a:srgbClr val="FFFFFF"/>
                </a:solidFill>
              </a:rPr>
              <a:t>    Questions &amp; Networking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</a:rPr>
              <a:t>Wrap up conversations before you head out</a:t>
            </a:r>
          </a:p>
        </p:txBody>
      </p:sp>
      <p:sp>
        <p:nvSpPr>
          <p:cNvPr id="209" name="Dot209"/>
          <p:cNvSpPr/>
          <p:nvPr/>
        </p:nvSpPr>
        <p:spPr>
          <a:xfrm>
            <a:off x="838200" y="50000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50" name="SpeakerHighlight"/>
          <p:cNvSpPr txBox="1"/>
          <p:nvPr/>
        </p:nvSpPr>
        <p:spPr>
          <a:xfrm>
            <a:off x="838200" y="5960000"/>
            <a:ext cx="105156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1600" i="1" dirty="0">
                <a:solidFill>
                  <a:srgbClr val="16C0C8"/>
                </a:solidFill>
              </a:rPr>
              <a:t>Brian Dill  ·  DuckDB 101 - Zero to 500 Million in Less Than a Second</a:t>
            </a:r>
          </a:p>
        </p:txBody>
      </p:sp>
    </p:spTree>
    <p:extLst>
      <p:ext uri="{BB962C8B-B14F-4D97-AF65-F5344CB8AC3E}">
        <p14:creationId xmlns:p14="http://schemas.microsoft.com/office/powerpoint/2010/main" val="418714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3799-3ED3-82F1-CD67-977474C4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87350"/>
            <a:ext cx="10515600" cy="984251"/>
          </a:xfrm>
        </p:spPr>
        <p:txBody>
          <a:bodyPr/>
          <a:lstStyle/>
          <a:p>
            <a:pPr algn="ctr"/>
            <a:r>
              <a:rPr lang="en-US" sz="1800" dirty="0">
                <a:solidFill>
                  <a:srgbClr val="FFFFFF"/>
                </a:solidFill>
              </a:rPr>
              <a:t>Thank You to Our</a:t>
            </a:r>
          </a:p>
          <a:p>
            <a:pPr algn="ctr"/>
            <a:r>
              <a:rPr lang="en-US" sz="3600" b="1" dirty="0">
                <a:solidFill>
                  <a:srgbClr val="FFFFFF"/>
                </a:solidFill>
              </a:rPr>
              <a:t>Host &amp; Sponsor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85B2D-BF28-016B-D1BD-4A2A0FE02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936750"/>
            <a:ext cx="10515600" cy="1409700"/>
          </a:xfrm>
        </p:spPr>
        <p:txBody>
          <a:bodyPr>
            <a:normAutofit/>
          </a:bodyPr>
          <a:lstStyle/>
          <a:p>
            <a:pPr algn="ctr">
              <a:spcAft>
                <a:spcPts val="400"/>
              </a:spcAft>
            </a:pPr>
            <a:r>
              <a:rPr lang="en-US" sz="3200" b="1" dirty="0">
                <a:solidFill>
                  <a:srgbClr val="16C0C8"/>
                </a:solidFill>
              </a:rPr>
              <a:t>Vaco by Highspring</a:t>
            </a:r>
          </a:p>
          <a:p>
            <a:pPr algn="ctr"/>
            <a:r>
              <a:rPr lang="en-US" sz="3200" dirty="0">
                <a:solidFill>
                  <a:srgbClr val="FFFFFF"/>
                </a:solidFill>
              </a:rPr>
              <a:t>5501 Virginia Way, Suite 120  ·  Brentwood, TN</a:t>
            </a:r>
          </a:p>
        </p:txBody>
      </p:sp>
      <p:sp>
        <p:nvSpPr>
          <p:cNvPr id="100" name="AccentLine"/>
          <p:cNvSpPr/>
          <p:nvPr/>
        </p:nvSpPr>
        <p:spPr>
          <a:xfrm>
            <a:off x="4102100" y="1670050"/>
            <a:ext cx="3810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101" name="ThankNote"/>
          <p:cNvSpPr txBox="1"/>
          <p:nvPr/>
        </p:nvSpPr>
        <p:spPr>
          <a:xfrm>
            <a:off x="1657350" y="3454400"/>
            <a:ext cx="9144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1600" i="1" dirty="0">
                <a:solidFill>
                  <a:srgbClr val="FFFFFF">
                    <a:alpha val="70000"/>
                  </a:srgbClr>
                </a:solidFill>
              </a:rPr>
              <a:t>Thank you for the space, refreshments, and community support!</a:t>
            </a:r>
          </a:p>
        </p:txBody>
      </p:sp>
    </p:spTree>
    <p:extLst>
      <p:ext uri="{BB962C8B-B14F-4D97-AF65-F5344CB8AC3E}">
        <p14:creationId xmlns:p14="http://schemas.microsoft.com/office/powerpoint/2010/main" val="150977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2316-4517-C893-71CA-7F040ED8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799" cy="114815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What is MC-DUG?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6940-6845-5BA1-B3E9-932D404C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274"/>
            <a:ext cx="9832092" cy="4963885"/>
          </a:xfrm>
        </p:spPr>
        <p:txBody>
          <a:bodyPr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Music City Data Users Group</a:t>
            </a:r>
          </a:p>
          <a:p>
            <a:pPr marL="0" indent="0">
              <a:spcAft>
                <a:spcPts val="200"/>
              </a:spcAft>
              <a:buNone/>
            </a:pPr>
            <a:endParaRPr lang="en-US" sz="2200" b="1" dirty="0">
              <a:solidFill>
                <a:srgbClr val="FFFFFF"/>
              </a:solidFill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Nashville's community for data professionals focused on SQL Server &amp; the Microsoft Data Platform.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Who it's for:  </a:t>
            </a:r>
            <a:r>
              <a:rPr lang="en-US" sz="1800" dirty="0">
                <a:solidFill>
                  <a:srgbClr val="FFFFFF"/>
                </a:solidFill>
              </a:rPr>
              <a:t>DBAs · Developers · Data Engineers · Analysts · Architects · Anyone learning data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Topics:  </a:t>
            </a:r>
            <a:r>
              <a:rPr lang="en-US" sz="1800" dirty="0">
                <a:solidFill>
                  <a:srgbClr val="FFFFFF"/>
                </a:solidFill>
              </a:rPr>
              <a:t>SQL Server &amp; Azure SQL · T-SQL &amp; Performance · PowerShell &amp; Automation · Data Engineering &amp; Warehousing · Career Growth</a:t>
            </a:r>
          </a:p>
          <a:p>
            <a:pPr marL="0" indent="0" algn="ctr">
              <a:buNone/>
            </a:pPr>
            <a:r>
              <a:rPr lang="en-US" sz="2200" i="1" dirty="0">
                <a:solidFill>
                  <a:srgbClr val="16C0C8"/>
                </a:solidFill>
              </a:rPr>
              <a:t>Come for the data. Stay for the community.</a:t>
            </a:r>
          </a:p>
        </p:txBody>
      </p:sp>
    </p:spTree>
    <p:extLst>
      <p:ext uri="{BB962C8B-B14F-4D97-AF65-F5344CB8AC3E}">
        <p14:creationId xmlns:p14="http://schemas.microsoft.com/office/powerpoint/2010/main" val="3127805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2316-4517-C893-71CA-7F040ED8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799" cy="114815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Meet the Organizers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6940-6845-5BA1-B3E9-932D404C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274"/>
            <a:ext cx="9832092" cy="4963885"/>
          </a:xfrm>
        </p:spPr>
        <p:txBody>
          <a:bodyPr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Jason Romans — Lead Organizer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Microsoft MVP based in Nashville, focused on Microsoft Fabric, Power BI &amp; data modeling.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Blog:  </a:t>
            </a:r>
            <a:r>
              <a:rPr lang="en-US" sz="1800" dirty="0">
                <a:solidFill>
                  <a:srgbClr val="FFFFFF"/>
                </a:solidFill>
              </a:rPr>
              <a:t>thedaxshepherd.com</a:t>
            </a:r>
          </a:p>
          <a:p>
            <a:pPr marL="0" indent="0">
              <a:spcAft>
                <a:spcPts val="200"/>
              </a:spcAft>
              <a:buNone/>
            </a:pPr>
            <a:endParaRPr lang="en-US" sz="2200" b="1">
              <a:solidFill>
                <a:srgbClr val="FFFFFF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2200" b="1">
                <a:solidFill>
                  <a:srgbClr val="FFFFFF"/>
                </a:solidFill>
              </a:rPr>
              <a:t>Kevin </a:t>
            </a:r>
            <a:r>
              <a:rPr lang="en-US" sz="2200" b="1" dirty="0">
                <a:solidFill>
                  <a:srgbClr val="FFFFFF"/>
                </a:solidFill>
              </a:rPr>
              <a:t>Kline — Co-Organizer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Microsoft Data Platform MVP for 20+ years; Founder &amp; former President of PASS.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Also known for:  </a:t>
            </a:r>
            <a:r>
              <a:rPr lang="en-US" sz="1800" dirty="0">
                <a:solidFill>
                  <a:srgbClr val="FFFFFF"/>
                </a:solidFill>
              </a:rPr>
              <a:t>Co-author, SQL in a Nutshell (O'Reilly)</a:t>
            </a:r>
          </a:p>
          <a:p>
            <a:pPr marL="0" indent="0" algn="ctr">
              <a:buNone/>
            </a:pPr>
            <a:r>
              <a:rPr lang="en-US" sz="2200" i="1" dirty="0">
                <a:solidFill>
                  <a:srgbClr val="16C0C8"/>
                </a:solidFill>
              </a:rPr>
              <a:t>Two organizers. One growing Nashville data community.</a:t>
            </a:r>
          </a:p>
        </p:txBody>
      </p:sp>
    </p:spTree>
    <p:extLst>
      <p:ext uri="{BB962C8B-B14F-4D97-AF65-F5344CB8AC3E}">
        <p14:creationId xmlns:p14="http://schemas.microsoft.com/office/powerpoint/2010/main" val="3127805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BAE5-8EA1-462B-130E-B97D9A8B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FFFF"/>
                </a:solidFill>
              </a:rPr>
              <a:t>Where to Find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64944-AA26-A62E-F8B7-08D6B5914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Our Home</a:t>
            </a:r>
          </a:p>
          <a:p>
            <a:pPr marL="45720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musiccitydata.org (redirects to Meetup)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Join on Meetup</a:t>
            </a:r>
          </a:p>
          <a:p>
            <a:pPr marL="45720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meetup.com/music-city-data-user-group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Want to Speak?</a:t>
            </a:r>
          </a:p>
          <a:p>
            <a:pPr marL="45720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Session submissions coming soon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Contact</a:t>
            </a:r>
          </a:p>
          <a:p>
            <a:pPr marL="45720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organizers@musiccitydata.org</a:t>
            </a:r>
          </a:p>
        </p:txBody>
      </p:sp>
    </p:spTree>
    <p:extLst>
      <p:ext uri="{BB962C8B-B14F-4D97-AF65-F5344CB8AC3E}">
        <p14:creationId xmlns:p14="http://schemas.microsoft.com/office/powerpoint/2010/main" val="3548343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0BF2-6092-E372-62E3-C0BCE983C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429427" cy="132556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Stay Connected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FFD4C-AAE5-E669-E13F-9F3F437CC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385" y="1343818"/>
            <a:ext cx="10989415" cy="4833145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Meetup</a:t>
            </a:r>
            <a:r>
              <a:rPr lang="en-US" dirty="0">
                <a:solidFill>
                  <a:srgbClr val="FFFFFF"/>
                </a:solidFill>
              </a:rPr>
              <a:t>  —  The main place for upcoming meetings &amp; activities</a:t>
            </a:r>
          </a:p>
          <a:p>
            <a:pPr marL="457200" lvl="1" indent="0">
              <a:spcAft>
                <a:spcPts val="200"/>
              </a:spcAft>
              <a:buNone/>
            </a:pPr>
            <a:r>
              <a:rPr lang="en-US">
                <a:solidFill>
                  <a:srgbClr val="FFFFFF"/>
                </a:solidFill>
              </a:rPr>
              <a:t>	Check </a:t>
            </a:r>
            <a:r>
              <a:rPr lang="en-US" dirty="0">
                <a:solidFill>
                  <a:srgbClr val="FFFFFF"/>
                </a:solidFill>
              </a:rPr>
              <a:t>Meetup for the next session, RSVPs, and announcements</a:t>
            </a:r>
          </a:p>
          <a:p>
            <a:pPr marL="914400" lvl="1" indent="-457200">
              <a:spcAft>
                <a:spcPts val="200"/>
              </a:spcAft>
              <a:buFont typeface="Arial"/>
              <a:buChar char="▸"/>
            </a:pPr>
            <a:endParaRPr lang="en-US" dirty="0">
              <a:solidFill>
                <a:srgbClr val="FFFFFF"/>
              </a:solidFill>
            </a:endParaRP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Email</a:t>
            </a:r>
            <a:r>
              <a:rPr lang="en-US" dirty="0">
                <a:solidFill>
                  <a:srgbClr val="FFFFFF"/>
                </a:solidFill>
              </a:rPr>
              <a:t>  —  Reach the organizers anytime</a:t>
            </a:r>
          </a:p>
          <a:p>
            <a:pPr marL="914400" indent="0">
              <a:spcAft>
                <a:spcPts val="1600"/>
              </a:spcAft>
              <a:buNone/>
            </a:pPr>
            <a:r>
              <a:rPr lang="en-US" b="1" dirty="0">
                <a:solidFill>
                  <a:srgbClr val="FFFFFF"/>
                </a:solidFill>
              </a:rPr>
              <a:t>organizers@musiccitydata.org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GitHub</a:t>
            </a:r>
            <a:r>
              <a:rPr lang="en-US" dirty="0">
                <a:solidFill>
                  <a:srgbClr val="FFFFFF"/>
                </a:solidFill>
              </a:rPr>
              <a:t>  —  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	Mainly for slides</a:t>
            </a:r>
            <a:r>
              <a:rPr lang="en-US" dirty="0"/>
              <a:t>:  </a:t>
            </a:r>
            <a:r>
              <a:rPr lang="en-US" b="1" dirty="0">
                <a:solidFill>
                  <a:srgbClr val="16C0C8"/>
                </a:solidFill>
              </a:rPr>
              <a:t>slides.musiccitydata.org</a:t>
            </a:r>
            <a:endParaRPr lang="en-US" dirty="0">
              <a:solidFill>
                <a:srgbClr val="FFFFFF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	Code of Conduct: </a:t>
            </a:r>
            <a:r>
              <a:rPr lang="en-US" b="1" dirty="0">
                <a:solidFill>
                  <a:srgbClr val="16C0C8"/>
                </a:solidFill>
              </a:rPr>
              <a:t>conduct.musiccitydata.org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89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40F-2557-AD9A-2E80-07B226EA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33378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Code </a:t>
            </a:r>
            <a:r>
              <a:rPr lang="en-US" sz="3200" b="1" dirty="0">
                <a:solidFill>
                  <a:srgbClr val="FFFFFF"/>
                </a:solidFill>
              </a:rPr>
              <a:t>of</a:t>
            </a:r>
            <a:r>
              <a:rPr lang="en-US" sz="4000" b="1" dirty="0">
                <a:solidFill>
                  <a:srgbClr val="FFFFFF"/>
                </a:solidFill>
              </a:rPr>
              <a:t> Conduct</a:t>
            </a:r>
          </a:p>
        </p:txBody>
      </p:sp>
      <p:sp>
        <p:nvSpPr>
          <p:cNvPr id="100" name="BodyText"/>
          <p:cNvSpPr txBox="1"/>
          <p:nvPr/>
        </p:nvSpPr>
        <p:spPr>
          <a:xfrm>
            <a:off x="336884" y="1333786"/>
            <a:ext cx="11016916" cy="4578876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We're all here to learn and grow together.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Please keep things: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Respectful</a:t>
            </a:r>
            <a:r>
              <a:rPr lang="en-US" sz="3600" dirty="0">
                <a:solidFill>
                  <a:srgbClr val="FFFFFF"/>
                </a:solidFill>
              </a:rPr>
              <a:t> — treat everyone with courtesy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Professional</a:t>
            </a:r>
            <a:r>
              <a:rPr lang="en-US" sz="3600" dirty="0">
                <a:solidFill>
                  <a:srgbClr val="FFFFFF"/>
                </a:solidFill>
              </a:rPr>
              <a:t> — keep discussions constructive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Inclusive</a:t>
            </a:r>
            <a:r>
              <a:rPr lang="en-US" sz="3600" dirty="0">
                <a:solidFill>
                  <a:srgbClr val="FFFFFF"/>
                </a:solidFill>
              </a:rPr>
              <a:t> — everyone belongs here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No spam or solicitation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solidFill>
                  <a:srgbClr val="FFFFFF"/>
                </a:solidFill>
              </a:rPr>
              <a:t>Full Code of Conduct:  </a:t>
            </a:r>
            <a:r>
              <a:rPr lang="en-US" sz="3600" b="1" dirty="0">
                <a:solidFill>
                  <a:srgbClr val="16C0C8"/>
                </a:solidFill>
              </a:rPr>
              <a:t>conduct.musiccitydata.org</a:t>
            </a:r>
          </a:p>
        </p:txBody>
      </p:sp>
    </p:spTree>
    <p:extLst>
      <p:ext uri="{BB962C8B-B14F-4D97-AF65-F5344CB8AC3E}">
        <p14:creationId xmlns:p14="http://schemas.microsoft.com/office/powerpoint/2010/main" val="3444243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D357-54AA-D779-8BBF-6EC72C7E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EA47-0A0D-EFD3-D07D-16BD0D28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04219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Other Microsoft Communities in Nashville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4DBF2-3F34-595E-166F-D2D27E336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793750"/>
            <a:ext cx="10655300" cy="5383213"/>
          </a:xfrm>
        </p:spPr>
        <p:txBody>
          <a:bodyPr anchor="ctr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Coming up at other Nashville groups: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Power BI User Group</a:t>
            </a:r>
          </a:p>
          <a:p>
            <a:pPr marL="457200" indent="0">
              <a:spcAft>
                <a:spcPts val="1000"/>
              </a:spcAft>
              <a:buNone/>
            </a:pPr>
            <a:r>
              <a:rPr lang="en-US" i="1" dirty="0">
                <a:solidFill>
                  <a:srgbClr val="FFFFFF"/>
                </a:solidFill>
              </a:rPr>
              <a:t>“From Tableau to Power BI: A Real World Transition Guide” — TBD· 5:00 PM</a:t>
            </a:r>
            <a:br>
              <a:rPr lang="en-US" dirty="0"/>
            </a:br>
            <a:r>
              <a:rPr lang="en-US" sz="1600" dirty="0">
                <a:solidFill>
                  <a:srgbClr val="FFFFFF"/>
                </a:solidFill>
              </a:rPr>
              <a:t>meetup.com/</a:t>
            </a:r>
            <a:r>
              <a:rPr lang="en-US" sz="1600" dirty="0" err="1">
                <a:solidFill>
                  <a:srgbClr val="FFFFFF"/>
                </a:solidFill>
              </a:rPr>
              <a:t>nashville</a:t>
            </a:r>
            <a:r>
              <a:rPr lang="en-US" sz="1600" dirty="0">
                <a:solidFill>
                  <a:srgbClr val="FFFFFF"/>
                </a:solidFill>
              </a:rPr>
              <a:t>-modern-excel-user-group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Microsoft Azure Users Group</a:t>
            </a:r>
          </a:p>
          <a:p>
            <a:pPr marL="457200" indent="0">
              <a:spcAft>
                <a:spcPts val="1000"/>
              </a:spcAft>
              <a:buNone/>
            </a:pPr>
            <a:r>
              <a:rPr lang="en-US" i="1" dirty="0">
                <a:solidFill>
                  <a:srgbClr val="FFFFFF"/>
                </a:solidFill>
              </a:rPr>
              <a:t>“Corral Your Azure Platform Services with Network Security Perimeters” — Wed, Aug 12 · 5:30 PM</a:t>
            </a:r>
            <a:br>
              <a:rPr lang="en-US" dirty="0"/>
            </a:br>
            <a:r>
              <a:rPr lang="en-US" sz="1600" dirty="0">
                <a:solidFill>
                  <a:srgbClr val="FFFFFF"/>
                </a:solidFill>
              </a:rPr>
              <a:t>meetup.com/the-</a:t>
            </a:r>
            <a:r>
              <a:rPr lang="en-US" sz="1600" dirty="0" err="1">
                <a:solidFill>
                  <a:srgbClr val="FFFFFF"/>
                </a:solidFill>
              </a:rPr>
              <a:t>nashville</a:t>
            </a:r>
            <a:r>
              <a:rPr lang="en-US" sz="1600" dirty="0">
                <a:solidFill>
                  <a:srgbClr val="FFFFFF"/>
                </a:solidFill>
              </a:rPr>
              <a:t>-</a:t>
            </a:r>
            <a:r>
              <a:rPr lang="en-US" sz="1600" dirty="0" err="1">
                <a:solidFill>
                  <a:srgbClr val="FFFFFF"/>
                </a:solidFill>
              </a:rPr>
              <a:t>microsoft</a:t>
            </a:r>
            <a:r>
              <a:rPr lang="en-US" sz="1600" dirty="0">
                <a:solidFill>
                  <a:srgbClr val="FFFFFF"/>
                </a:solidFill>
              </a:rPr>
              <a:t>-azure-users-group</a:t>
            </a:r>
            <a:endParaRPr lang="en-US" dirty="0">
              <a:solidFill>
                <a:srgbClr val="FFFFFF"/>
              </a:solidFill>
            </a:endParaRP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.NET User Group</a:t>
            </a:r>
          </a:p>
          <a:p>
            <a:pPr marL="457200" indent="0">
              <a:spcAft>
                <a:spcPts val="1000"/>
              </a:spcAft>
              <a:buNone/>
            </a:pPr>
            <a:r>
              <a:rPr lang="en-US" i="1" dirty="0">
                <a:solidFill>
                  <a:srgbClr val="FFFFFF"/>
                </a:solidFill>
              </a:rPr>
              <a:t>Monthly Meeting — Thu, Aug 13 · 5:30 PM</a:t>
            </a:r>
            <a:br>
              <a:rPr lang="en-US" dirty="0"/>
            </a:br>
            <a:r>
              <a:rPr lang="en-US" sz="1600" dirty="0">
                <a:solidFill>
                  <a:srgbClr val="FFFFFF"/>
                </a:solidFill>
              </a:rPr>
              <a:t>meetup.com/nashdotnet</a:t>
            </a:r>
          </a:p>
        </p:txBody>
      </p:sp>
    </p:spTree>
    <p:extLst>
      <p:ext uri="{BB962C8B-B14F-4D97-AF65-F5344CB8AC3E}">
        <p14:creationId xmlns:p14="http://schemas.microsoft.com/office/powerpoint/2010/main" val="3817928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D357-54AA-D779-8BBF-6EC72C7E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EA47-0A0D-EFD3-D07D-16BD0D28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04219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More Nashville Data Communities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4DBF2-3F34-595E-166F-D2D27E336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793750"/>
            <a:ext cx="10655300" cy="5383213"/>
          </a:xfrm>
        </p:spPr>
        <p:txBody>
          <a:bodyPr anchor="ctr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Coming up at other Nashville groups: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Microsoft 365 Users Group of Nashville &amp; Knoxville</a:t>
            </a:r>
          </a:p>
          <a:p>
            <a:pPr marL="45720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meetup.com/m365usergroup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Data Nerds</a:t>
            </a:r>
          </a:p>
          <a:p>
            <a:pPr marL="457200" indent="0">
              <a:spcAft>
                <a:spcPts val="1000"/>
              </a:spcAft>
              <a:buNone/>
            </a:pPr>
            <a:r>
              <a:rPr lang="en-US" i="1" dirty="0">
                <a:solidFill>
                  <a:srgbClr val="FFFFFF"/>
                </a:solidFill>
              </a:rPr>
              <a:t>“Building an Agentic App using Microsoft Foundry” — Wed, Aug 5 · 5:00 PM</a:t>
            </a:r>
            <a:br>
              <a:rPr lang="en-US" dirty="0"/>
            </a:br>
            <a:r>
              <a:rPr lang="en-US" sz="1600" dirty="0">
                <a:solidFill>
                  <a:srgbClr val="FFFFFF"/>
                </a:solidFill>
              </a:rPr>
              <a:t>meetup.com/data-nerds</a:t>
            </a:r>
          </a:p>
        </p:txBody>
      </p:sp>
    </p:spTree>
    <p:extLst>
      <p:ext uri="{BB962C8B-B14F-4D97-AF65-F5344CB8AC3E}">
        <p14:creationId xmlns:p14="http://schemas.microsoft.com/office/powerpoint/2010/main" val="3817928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DDCE-D79B-B39E-68A2-E1D1D4C4F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81915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New Speakers Welcome!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838200" y="977900"/>
            <a:ext cx="10077450" cy="5270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Interested in presenting but haven't done it before? We'd love to help you get started. Here are some easy ways to ease in:</a:t>
            </a:r>
          </a:p>
          <a:p>
            <a:pPr marL="457200" indent="-457200">
              <a:spcAft>
                <a:spcPts val="1200"/>
              </a:spcAft>
              <a:buFont typeface="Arial"/>
              <a:buChar char="▸"/>
            </a:pPr>
            <a:r>
              <a:rPr lang="en-US" sz="2800" b="1" dirty="0">
                <a:solidFill>
                  <a:srgbClr val="16C0C8"/>
                </a:solidFill>
              </a:rPr>
              <a:t>Lightning Talks</a:t>
            </a:r>
            <a:r>
              <a:rPr lang="en-US" sz="2800" dirty="0">
                <a:solidFill>
                  <a:srgbClr val="FFFFFF"/>
                </a:solidFill>
              </a:rPr>
              <a:t>  —  5–10 minutes on a tip, tool, or lesson learned</a:t>
            </a:r>
          </a:p>
          <a:p>
            <a:pPr marL="457200" indent="-457200">
              <a:spcAft>
                <a:spcPts val="1200"/>
              </a:spcAft>
              <a:buFont typeface="Arial"/>
              <a:buChar char="▸"/>
            </a:pPr>
            <a:r>
              <a:rPr lang="en-US" sz="2800" b="1" dirty="0">
                <a:solidFill>
                  <a:srgbClr val="16C0C8"/>
                </a:solidFill>
              </a:rPr>
              <a:t>Short Session Before the Main Talk</a:t>
            </a:r>
            <a:r>
              <a:rPr lang="en-US" sz="2800" dirty="0">
                <a:solidFill>
                  <a:srgbClr val="FFFFFF"/>
                </a:solidFill>
              </a:rPr>
              <a:t>  —  A 15–20 min opener to warm up the room</a:t>
            </a:r>
          </a:p>
          <a:p>
            <a:pPr marL="457200" indent="-457200">
              <a:spcAft>
                <a:spcPts val="2000"/>
              </a:spcAft>
              <a:buFont typeface="Arial"/>
              <a:buChar char="▸"/>
            </a:pPr>
            <a:r>
              <a:rPr lang="en-US" sz="2800" b="1" dirty="0">
                <a:solidFill>
                  <a:srgbClr val="16C0C8"/>
                </a:solidFill>
              </a:rPr>
              <a:t>Full Presentation</a:t>
            </a:r>
            <a:r>
              <a:rPr lang="en-US" sz="2800" dirty="0">
                <a:solidFill>
                  <a:srgbClr val="FFFFFF"/>
                </a:solidFill>
              </a:rPr>
              <a:t>  —  When you're ready for the full stage</a:t>
            </a:r>
          </a:p>
          <a:p>
            <a:pPr marL="0" indent="0" algn="ctr">
              <a:buNone/>
            </a:pPr>
            <a:r>
              <a:rPr lang="en-US" sz="2800" i="1" dirty="0">
                <a:solidFill>
                  <a:srgbClr val="16C0C8"/>
                </a:solidFill>
              </a:rPr>
              <a:t>No experience needed — just a willingness to share!</a:t>
            </a:r>
          </a:p>
        </p:txBody>
      </p:sp>
      <p:pic>
        <p:nvPicPr>
          <p:cNvPr id="11" name="Graphic 11" descr="Microphon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9500" y="508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33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DDCE-D79B-B39E-68A2-E1D1D4C4F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81915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New Certification Alert: DP-800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838200" y="977900"/>
            <a:ext cx="10077450" cy="5270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FFFFFF"/>
                </a:solidFill>
              </a:rPr>
              <a:t>Microsoft just launched a new certification for SQL pros diving into AI:</a:t>
            </a:r>
          </a:p>
          <a:p>
            <a:pPr marL="400050" indent="-400050">
              <a:spcAft>
                <a:spcPts val="9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Microsoft Certified: SQL AI Developer Associate</a:t>
            </a:r>
            <a:r>
              <a:rPr lang="en-US" sz="2000" dirty="0">
                <a:solidFill>
                  <a:srgbClr val="FFFFFF"/>
                </a:solidFill>
              </a:rPr>
              <a:t>  —  Microsoft's newest cert, GA since May 2026</a:t>
            </a:r>
          </a:p>
          <a:p>
            <a:pPr marL="400050" indent="-400050">
              <a:spcAft>
                <a:spcPts val="9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What it covers</a:t>
            </a:r>
            <a:r>
              <a:rPr lang="en-US" sz="2000" dirty="0">
                <a:solidFill>
                  <a:srgbClr val="FFFFFF"/>
                </a:solidFill>
              </a:rPr>
              <a:t>  —  T-SQL AI functions, vector embeddings, semantic search &amp; RAG</a:t>
            </a:r>
          </a:p>
          <a:p>
            <a:pPr marL="400050" indent="-400050">
              <a:spcAft>
                <a:spcPts val="9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Where it applies</a:t>
            </a:r>
            <a:r>
              <a:rPr lang="en-US" sz="2000" dirty="0">
                <a:solidFill>
                  <a:srgbClr val="FFFFFF"/>
                </a:solidFill>
              </a:rPr>
              <a:t>  —  SQL Server, Azure SQL &amp; Fabric SQL databases</a:t>
            </a:r>
          </a:p>
          <a:p>
            <a:pPr marL="400050" indent="-400050">
              <a:spcAft>
                <a:spcPts val="9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Free cert offer</a:t>
            </a:r>
            <a:r>
              <a:rPr lang="en-US" sz="2000" dirty="0">
                <a:solidFill>
                  <a:srgbClr val="FFFFFF"/>
                </a:solidFill>
              </a:rPr>
              <a:t>  —  Join </a:t>
            </a:r>
            <a:r>
              <a:rPr lang="en-US" sz="2000" u="sng" dirty="0">
                <a:solidFill>
                  <a:srgbClr val="FFFFFF"/>
                </a:solidFill>
                <a:hlinkClick r:id="rId2"/>
              </a:rPr>
              <a:t>Fabric Data Days 2026</a:t>
            </a:r>
            <a:r>
              <a:rPr lang="en-US" sz="2000" dirty="0">
                <a:solidFill>
                  <a:srgbClr val="FFFFFF"/>
                </a:solidFill>
              </a:rPr>
              <a:t> for a free cert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2000" dirty="0" b="1">
                <a:solidFill>
                  <a:srgbClr val="16C0C8"/>
                </a:solidFill>
              </a:rPr>
              <a:t>Learn more</a:t>
            </a:r>
            <a:r>
              <a:rPr lang="en-US" sz="2000" dirty="0">
                <a:solidFill>
                  <a:srgbClr val="FFFFFF"/>
                </a:solidFill>
              </a:rPr>
              <a:t>  —  learn.microsoft.com/credentials/certifications/developing-ai-enabled-database-solutions</a:t>
            </a:r>
          </a:p>
          <a:p>
            <a:pPr marL="0" indent="0" algn="ctr">
              <a:buNone/>
            </a:pPr>
            <a:r>
              <a:rPr lang="en-US" sz="2000" i="1" dirty="0">
                <a:solidFill>
                  <a:srgbClr val="16C0C8"/>
                </a:solidFill>
              </a:rPr>
              <a:t>A great next step after T-SQL.</a:t>
            </a:r>
          </a:p>
        </p:txBody>
      </p:sp>
    </p:spTree>
    <p:extLst>
      <p:ext uri="{BB962C8B-B14F-4D97-AF65-F5344CB8AC3E}">
        <p14:creationId xmlns:p14="http://schemas.microsoft.com/office/powerpoint/2010/main" val="1246333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6ABEC-BB9D-AC42-FFBA-B728B19D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09350" cy="1325563"/>
          </a:xfrm>
        </p:spPr>
        <p:txBody>
          <a:bodyPr/>
          <a:lstStyle/>
          <a:p>
            <a:pPr algn="ctr"/>
            <a:r>
              <a:rPr lang="en-US" dirty="0" b="1" sz="3200">
                <a:solidFill>
                  <a:srgbClr val="FFFFFF"/>
                </a:solidFill>
              </a:rPr>
              <a:t>Upcoming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1E1F7-FF31-F38D-E881-585BFEDD8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193800"/>
            <a:ext cx="10871200" cy="4983163"/>
          </a:xfrm>
        </p:spPr>
        <p:txBody>
          <a:bodyPr/>
          <a:lstStyle/>
          <a:p>
            <a:pPr marL="0" indent="0">
              <a:spcAft>
                <a:spcPts val="24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Mark your calendars for these free community data conferences: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6C0C8"/>
                </a:solidFill>
              </a:rPr>
              <a:t>Nashville Microsoft Community Day</a:t>
            </a:r>
            <a:br>
              <a:rPr lang="en-US" dirty="0"/>
            </a:br>
            <a:r>
              <a:rPr lang="en-US" sz="2000" dirty="0">
                <a:solidFill>
                  <a:srgbClr val="FFFFFF"/>
                </a:solidFill>
              </a:rPr>
              <a:t>Friday, September 11 · Nelson Andrews Leadership Center</a:t>
            </a:r>
          </a:p>
          <a:p>
            <a:pPr marL="0" indent="0">
              <a:spcAft>
                <a:spcPts val="2800"/>
              </a:spcAft>
              <a:buNone/>
            </a:pP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6C0C8"/>
                </a:solidFill>
              </a:rPr>
              <a:t>Day of Data Salt Lake City</a:t>
            </a:r>
            <a:br>
              <a:rPr lang="en-US" dirty="0"/>
            </a:br>
            <a:r>
              <a:rPr lang="en-US" sz="2000" dirty="0">
                <a:solidFill>
                  <a:srgbClr val="FFFFFF"/>
                </a:solidFill>
              </a:rPr>
              <a:t>Saturday, September 19 · Neumont University</a:t>
            </a:r>
          </a:p>
          <a:p>
            <a:pPr marL="0" indent="0">
              <a:spcAft>
                <a:spcPts val="2800"/>
              </a:spcAft>
              <a:buNone/>
            </a:pP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6C0C8"/>
                </a:solidFill>
              </a:rPr>
              <a:t>Day of Data St. Louis</a:t>
            </a:r>
            <a:br>
              <a:rPr lang="en-US" dirty="0"/>
            </a:br>
            <a:r>
              <a:rPr lang="en-US" sz="2000" dirty="0">
                <a:solidFill>
                  <a:srgbClr val="FFFFFF"/>
                </a:solidFill>
              </a:rPr>
              <a:t>Saturday, October 24 · Microsoft Technology Center</a:t>
            </a:r>
          </a:p>
        </p:txBody>
      </p:sp>
    </p:spTree>
    <p:extLst>
      <p:ext uri="{BB962C8B-B14F-4D97-AF65-F5344CB8AC3E}">
        <p14:creationId xmlns:p14="http://schemas.microsoft.com/office/powerpoint/2010/main" val="4131868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F5A7D-1386-35C8-0AEF-F15DA05D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1353800" cy="568960"/>
          </a:xfrm>
        </p:spPr>
        <p:txBody>
          <a:bodyPr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Next Meeting – Sept 3</a:t>
            </a: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100" name="NextMeetingBody"/>
          <p:cNvSpPr txBox="1"/>
          <p:nvPr/>
        </p:nvSpPr>
        <p:spPr>
          <a:xfrm>
            <a:off x="838200" y="6004558"/>
            <a:ext cx="10515600" cy="56896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spcBef>
                <a:spcPts val="1600"/>
              </a:spcBef>
              <a:buNone/>
            </a:pPr>
            <a:r>
              <a:rPr lang="en-US" sz="2400" b="1" dirty="0">
                <a:solidFill>
                  <a:srgbClr val="16C0C8"/>
                </a:solidFill>
              </a:rPr>
              <a:t>RSVP at musiccitydata.org once listed</a:t>
            </a:r>
          </a:p>
        </p:txBody>
      </p:sp>
      <p:pic>
        <p:nvPicPr>
          <p:cNvPr id="101" name="Picture 100" descr="Matt_Gordon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516" y="568962"/>
            <a:ext cx="9594965" cy="540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20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2316-4517-C893-71CA-7F040ED8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799" cy="114815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Our Meeting Cadence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6940-6845-5BA1-B3E9-932D404C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954" y="1148156"/>
            <a:ext cx="9832092" cy="4305301"/>
          </a:xfrm>
        </p:spPr>
        <p:txBody>
          <a:bodyPr anchor="ctr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We’re trying to settle into a monthly rhythm — 1st Tuesday of the month at Vaco: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Thursday Sep 3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Wednesday Oct 7 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Tuesday Nov 3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Tuesday Dec 1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October or December – most likely Intro to </a:t>
            </a:r>
            <a:r>
              <a:rPr lang="en-US" dirty="0" err="1">
                <a:solidFill>
                  <a:srgbClr val="FFFFFF"/>
                </a:solidFill>
              </a:rPr>
              <a:t>DBATools</a:t>
            </a:r>
            <a:r>
              <a:rPr lang="en-US">
                <a:solidFill>
                  <a:srgbClr val="FFFFFF"/>
                </a:solidFill>
              </a:rPr>
              <a:t> as topic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805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B264-2BE2-B035-02AE-EB774B48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01600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Get the Slides</a:t>
            </a:r>
          </a:p>
        </p:txBody>
      </p:sp>
      <p:sp>
        <p:nvSpPr>
          <p:cNvPr id="21" name="URLCard"/>
          <p:cNvSpPr/>
          <p:nvPr/>
        </p:nvSpPr>
        <p:spPr>
          <a:xfrm>
            <a:off x="1651000" y="2222500"/>
            <a:ext cx="8890000" cy="8890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9050">
            <a:solidFill>
              <a:srgbClr val="16C0C8"/>
            </a:solidFill>
          </a:ln>
        </p:spPr>
        <p:txBody>
          <a:bodyPr anchor="ctr" anchorCtr="1"/>
          <a:lstStyle/>
          <a:p>
            <a:pPr algn="ctr"/>
            <a:r>
              <a:rPr lang="en-US" sz="3200" b="1" dirty="0">
                <a:solidFill>
                  <a:srgbClr val="16C0C8"/>
                </a:solidFill>
                <a:latin typeface="Consolas"/>
                <a:cs typeface="Consolas"/>
              </a:rPr>
              <a:t>slides.musiccitydata.org</a:t>
            </a:r>
          </a:p>
        </p:txBody>
      </p:sp>
      <p:sp>
        <p:nvSpPr>
          <p:cNvPr id="22" name="Arrow"/>
          <p:cNvSpPr/>
          <p:nvPr/>
        </p:nvSpPr>
        <p:spPr>
          <a:xfrm>
            <a:off x="5842000" y="3238500"/>
            <a:ext cx="508000" cy="508000"/>
          </a:xfrm>
          <a:prstGeom prst="downArrow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itHubLabel"/>
          <p:cNvSpPr/>
          <p:nvPr/>
        </p:nvSpPr>
        <p:spPr>
          <a:xfrm>
            <a:off x="2286000" y="3810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Hosted on </a:t>
            </a:r>
            <a:r>
              <a:rPr lang="en-US" sz="2000" b="1" dirty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24" name="Description"/>
          <p:cNvSpPr/>
          <p:nvPr/>
        </p:nvSpPr>
        <p:spPr>
          <a:xfrm>
            <a:off x="1651000" y="4508500"/>
            <a:ext cx="8890000" cy="101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800" dirty="0">
                <a:solidFill>
                  <a:srgbClr val="FFFFFF"/>
                </a:solidFill>
              </a:rPr>
              <a:t>Presentation decks </a:t>
            </a:r>
            <a:r>
              <a:rPr lang="en-US" dirty="0" sz="1800">
                <a:solidFill>
                  <a:srgbClr val="FFFFFF"/>
                </a:solidFill>
              </a:rPr>
              <a:t>may be available if not hosted by speaker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5" name="Tagline"/>
          <p:cNvSpPr/>
          <p:nvPr/>
        </p:nvSpPr>
        <p:spPr>
          <a:xfrm>
            <a:off x="2286000" y="5842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600" i="1" dirty="0">
                <a:solidFill>
                  <a:srgbClr val="16C0C8"/>
                </a:solidFill>
              </a:rPr>
              <a:t>All slides are open and freely available</a:t>
            </a:r>
          </a:p>
        </p:txBody>
      </p:sp>
      <p:pic>
        <p:nvPicPr>
          <p:cNvPr id="26" name="Graphic 26" descr="Link icon for UR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349500"/>
            <a:ext cx="609600" cy="609600"/>
          </a:xfrm>
          <a:prstGeom prst="rect">
            <a:avLst/>
          </a:prstGeom>
        </p:spPr>
      </p:pic>
      <p:pic>
        <p:nvPicPr>
          <p:cNvPr id="27" name="Graphic 27" descr="Presenta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0" y="2349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30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B472-5E5D-19ED-3715-A9AF537DD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945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About Brian Dill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527D4-9C19-7A0B-EB54-5D406C33B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257" y="863601"/>
            <a:ext cx="11669486" cy="4648200"/>
          </a:xfrm>
        </p:spPr>
        <p:txBody>
          <a:bodyPr>
            <a:noAutofit/>
          </a:bodyPr>
          <a:lstStyle/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r>
              <a:rPr lang="en-US" sz="2800" dirty="0">
                <a:solidFill>
                  <a:srgbClr val="FFFFFF"/>
                </a:solidFill>
              </a:rPr>
              <a:t>30-year Nashville-area SQL Server DBA, recently pivoted into data engineering</a:t>
            </a: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endParaRPr lang="en-US" sz="2800" dirty="0">
              <a:solidFill>
                <a:srgbClr val="FFFFFF"/>
              </a:solidFill>
            </a:endParaRP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r>
              <a:rPr lang="en-US" sz="2800" dirty="0">
                <a:solidFill>
                  <a:srgbClr val="FFFFFF"/>
                </a:solidFill>
              </a:rPr>
              <a:t>Automates with PowerShell, visualizes in R, and works across SQL Server, PostgreSQL, MySQL, SQLite &amp; DuckDB</a:t>
            </a: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endParaRPr lang="en-US" sz="2800" dirty="0">
              <a:solidFill>
                <a:srgbClr val="FFFFFF"/>
              </a:solidFill>
            </a:endParaRP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endParaRPr lang="en-US" sz="2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914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456D-1F43-4E3E-D6F8-4F66333E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7223"/>
            <a:ext cx="10515600" cy="1187452"/>
          </a:xfrm>
        </p:spPr>
        <p:txBody>
          <a:bodyPr/>
          <a:lstStyle/>
          <a:p>
            <a:pPr algn="ctr">
              <a:spcAft>
                <a:spcPts val="200"/>
              </a:spcAft>
            </a:pPr>
            <a:r>
              <a:rPr lang="en-US" sz="2000" dirty="0">
                <a:solidFill>
                  <a:srgbClr val="16C0C8"/>
                </a:solidFill>
              </a:rPr>
              <a:t>NOW</a:t>
            </a:r>
          </a:p>
          <a:p>
            <a:pPr algn="ctr"/>
            <a:r>
              <a:rPr lang="en-US" sz="4400" b="1" dirty="0">
                <a:solidFill>
                  <a:srgbClr val="FFFFFF"/>
                </a:solidFill>
              </a:rPr>
              <a:t>Brian Dill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4F315-8218-7E4A-09E7-8BB601F72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2697163"/>
            <a:ext cx="10515600" cy="1500187"/>
          </a:xfrm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lang="en-US" sz="2000" dirty="0">
                <a:solidFill>
                  <a:srgbClr val="FFFFFF"/>
                </a:solidFill>
              </a:rPr>
              <a:t>DuckDB 101 - Zero to 500 Million in Less Than a Second</a:t>
            </a:r>
          </a:p>
          <a:p>
            <a:pPr algn="ctr"/>
            <a:r>
              <a:rPr lang="en-US" sz="1600" i="1" dirty="0">
                <a:solidFill>
                  <a:srgbClr val="16C0C8"/>
                </a:solidFill>
                <a:latin typeface="Consolas"/>
              </a:rPr>
              <a:t>SELECT * FROM community</a:t>
            </a:r>
          </a:p>
        </p:txBody>
      </p:sp>
      <p:sp>
        <p:nvSpPr>
          <p:cNvPr id="100" name="HandoffAccent"/>
          <p:cNvSpPr/>
          <p:nvPr/>
        </p:nvSpPr>
        <p:spPr>
          <a:xfrm>
            <a:off x="4102100" y="2451100"/>
            <a:ext cx="3810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13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234043337]">
  <a:themeElements>
    <a:clrScheme name="MCDUG">
      <a:dk1>
        <a:srgbClr val="FFFFFF"/>
      </a:dk1>
      <a:lt1>
        <a:srgbClr val="001A5C"/>
      </a:lt1>
      <a:dk2>
        <a:srgbClr val="0B1F3A"/>
      </a:dk2>
      <a:lt2>
        <a:srgbClr val="F2F6FB"/>
      </a:lt2>
      <a:accent1>
        <a:srgbClr val="16C0C8"/>
      </a:accent1>
      <a:accent2>
        <a:srgbClr val="0048A8"/>
      </a:accent2>
      <a:accent3>
        <a:srgbClr val="0B1F3A"/>
      </a:accent3>
      <a:accent4>
        <a:srgbClr val="FFFFFF"/>
      </a:accent4>
      <a:accent5>
        <a:srgbClr val="F2F6FB"/>
      </a:accent5>
      <a:accent6>
        <a:srgbClr val="0048A8"/>
      </a:accent6>
      <a:hlink>
        <a:srgbClr val="16C0C8"/>
      </a:hlink>
      <a:folHlink>
        <a:srgbClr val="0048A8"/>
      </a:folHlink>
    </a:clrScheme>
    <a:fontScheme name="MCDUG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  <wetp:taskpane dockstate="right" visibility="0" width="350" row="5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D3FEB83-ED6B-45AC-ABDC-B930AAAB097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4a7dd86-20e0-45bc-931c-6dd8a05d33b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F78CC52-564B-485F-8022-1F1E5A8687C7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b320b2c3-c501-4cb1-80d5-694d72d61ec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874</Words>
  <Application>Microsoft Office PowerPoint</Application>
  <PresentationFormat>Widescreen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Consolas</vt:lpstr>
      <vt:lpstr>Segoe UI</vt:lpstr>
      <vt:lpstr>Office Theme [1782234043337]</vt:lpstr>
      <vt:lpstr>PowerPoint Presentation</vt:lpstr>
      <vt:lpstr>Tonight's Agenda</vt:lpstr>
      <vt:lpstr>Thank You to Our Host &amp; Sponsor</vt:lpstr>
      <vt:lpstr>What is MC-DUG?</vt:lpstr>
      <vt:lpstr>Meet the Organizers</vt:lpstr>
      <vt:lpstr>Where to Find Us</vt:lpstr>
      <vt:lpstr>Stay Connected</vt:lpstr>
      <vt:lpstr>Code of Conduct</vt:lpstr>
      <vt:lpstr>Other Microsoft Communities in Nashville</vt:lpstr>
      <vt:lpstr>More Nashville Data Communities</vt:lpstr>
      <vt:lpstr>New Speakers Welcome!</vt:lpstr>
      <vt:lpstr>New Certification Alert: DP-800</vt:lpstr>
      <vt:lpstr>Upcoming Events</vt:lpstr>
      <vt:lpstr>Next Meeting – Sept 3</vt:lpstr>
      <vt:lpstr>Our Meeting Cadence</vt:lpstr>
      <vt:lpstr>Get the Slides</vt:lpstr>
      <vt:lpstr>About Brian Dill</vt:lpstr>
      <vt:lpstr>NOW Brian Dill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Romans</dc:creator>
  <cp:lastModifiedBy>Jason Romans</cp:lastModifiedBy>
  <cp:revision>5</cp:revision>
  <dcterms:created xsi:type="dcterms:W3CDTF">2026-06-23T17:00:43Z</dcterms:created>
  <dcterms:modified xsi:type="dcterms:W3CDTF">2026-08-04T12:14:52Z</dcterms:modified>
</cp:coreProperties>
</file>