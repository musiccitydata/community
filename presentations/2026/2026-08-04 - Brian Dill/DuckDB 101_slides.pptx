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Play"/>
      <p:regular r:id="rId17"/>
      <p:bold r:id="rId18"/>
    </p:embeddedFon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80">
          <p15:clr>
            <a:srgbClr val="747775"/>
          </p15:clr>
        </p15:guide>
        <p15:guide id="2" pos="3840">
          <p15:clr>
            <a:srgbClr val="747775"/>
          </p15:clr>
        </p15:guide>
        <p15:guide id="3" orient="horz" pos="15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A9183C-3CD5-4DF8-B92F-6D632BB39551}">
  <a:tblStyle styleId="{F6A9183C-3CD5-4DF8-B92F-6D632BB39551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80" orient="horz"/>
        <p:guide pos="3840"/>
        <p:guide pos="158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5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4.xml"/><Relationship Id="rId21" Type="http://schemas.openxmlformats.org/officeDocument/2006/relationships/font" Target="fonts/Robo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ay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l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6d385e782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6d385e78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6d385e782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6d385e78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6d385e782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6d385e78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6d385e782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86d385e78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426519"/>
            <a:ext cx="91440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 sz="8000"/>
              <a:t>DuckDB 101</a:t>
            </a:r>
            <a:endParaRPr sz="8000"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70625" y="2420702"/>
            <a:ext cx="9144000" cy="24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000"/>
              <a:t>From 0 to 500 Million in &lt; 1 sec</a:t>
            </a:r>
            <a:endParaRPr sz="30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Brian Dill</a:t>
            </a:r>
            <a:endParaRPr b="1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491800" y="4639300"/>
            <a:ext cx="6242700" cy="22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www.briandill.net</a:t>
            </a:r>
            <a:endParaRPr b="1" sz="18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www.linkedin.com/in/</a:t>
            </a: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briandill</a:t>
            </a:r>
            <a:endParaRPr b="1" sz="18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@bdill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(Twitter/X)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@wbdill.bsky.social</a:t>
            </a:r>
            <a:endParaRPr b="1" sz="18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The Database Landscape</a:t>
            </a:r>
            <a:endParaRPr/>
          </a:p>
        </p:txBody>
      </p:sp>
      <p:pic>
        <p:nvPicPr>
          <p:cNvPr id="92" name="Google Shape;92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5822" y="1825625"/>
            <a:ext cx="9200356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title="logo_duckd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5375" y="2074525"/>
            <a:ext cx="1334699" cy="154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The Sweet Spot Middle</a:t>
            </a:r>
            <a:endParaRPr/>
          </a:p>
        </p:txBody>
      </p:sp>
      <p:pic>
        <p:nvPicPr>
          <p:cNvPr id="99" name="Google Shape;99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5822" y="1825625"/>
            <a:ext cx="9200356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325675" y="38893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Pros and Cons</a:t>
            </a:r>
            <a:endParaRPr/>
          </a:p>
        </p:txBody>
      </p:sp>
      <p:pic>
        <p:nvPicPr>
          <p:cNvPr id="105" name="Google Shape;105;p16" title="logo_duckd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8425" y="154475"/>
            <a:ext cx="1650374" cy="191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/>
          <p:nvPr/>
        </p:nvSpPr>
        <p:spPr>
          <a:xfrm>
            <a:off x="138600" y="2507700"/>
            <a:ext cx="223800" cy="34071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325675" y="2348875"/>
            <a:ext cx="3905100" cy="43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Pros: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FOSS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Lightweight (34MB)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Trivial Install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Built-in UI notebook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CSV &amp; parquet 1st class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Handles data &gt; RAM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Python/R friendly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ANSI SQL compliance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Blazingly fast (C++)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3819900" y="2348900"/>
            <a:ext cx="5110800" cy="43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Cons</a:t>
            </a:r>
            <a:r>
              <a:rPr b="1" lang="en-US" sz="3000">
                <a:solidFill>
                  <a:schemeClr val="dk1"/>
                </a:solidFill>
              </a:rPr>
              <a:t>: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No security model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Low concurrency (SQLite)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Single node only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No scheduling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Transactional, but not OLTP optimized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Limited dynamic SQL (use Python)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Smaller production track record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8678175" y="2348900"/>
            <a:ext cx="3443100" cy="3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Neutral: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Columnar engine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Postgresql-style dialect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Analytic extensions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3662050" y="2507700"/>
            <a:ext cx="223800" cy="26886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8506475" y="2507700"/>
            <a:ext cx="223800" cy="1414800"/>
          </a:xfrm>
          <a:prstGeom prst="rect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OLAP vs OLTP</a:t>
            </a:r>
            <a:endParaRPr/>
          </a:p>
        </p:txBody>
      </p:sp>
      <p:graphicFrame>
        <p:nvGraphicFramePr>
          <p:cNvPr id="117" name="Google Shape;117;p17"/>
          <p:cNvGraphicFramePr/>
          <p:nvPr/>
        </p:nvGraphicFramePr>
        <p:xfrm>
          <a:off x="838200" y="1652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{F6A9183C-3CD5-4DF8-B92F-6D632BB39551}</a:tableStyleId>
              </a:tblPr>
              <a:tblGrid>
                <a:gridCol w="3505200"/>
                <a:gridCol w="3505200"/>
                <a:gridCol w="3505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Concept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OLTP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OLAP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Unit of Storage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Row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Column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Row are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Primary means of retrieval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An afterthought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Optimized for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Single row lookups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Frequent writes and updates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Scans, Aggregations, Grouping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Speed from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Indexes (clustered and non-clustered)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Metadata (data skipping), vectorized access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M.O.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Finding a needle in a haystack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Describing the haystack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Demos in Three Acts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•Act I – Pure Speed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•Act II – Portable Utility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•Act III – Complete SQL Engine Capability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Act I – Pure Speed</a:t>
            </a:r>
            <a:endParaRPr sz="6000"/>
          </a:p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838200" y="3046275"/>
            <a:ext cx="10515600" cy="3130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Quick look at aggregating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over ½ billion rows</a:t>
            </a:r>
            <a:endParaRPr/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925" y="1690825"/>
            <a:ext cx="3889449" cy="388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Act II – Portable Utility</a:t>
            </a:r>
            <a:endParaRPr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838200" y="1825625"/>
            <a:ext cx="10515600" cy="4024200"/>
          </a:xfrm>
          <a:prstGeom prst="rect">
            <a:avLst/>
          </a:prstGeom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Take the engine to the data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Query CSV files as if they are tables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Optionally persist CSV files as table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Perform basic SQL operations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filters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joins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select expressions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5450" y="1692250"/>
            <a:ext cx="4290949" cy="429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Act III – Complete SQL Engine</a:t>
            </a:r>
            <a:endParaRPr/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CTEs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Export CSV, parquet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Window functions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800"/>
              <a:t>ROW_NUMBER, RANK, LEAD, LAG</a:t>
            </a:r>
            <a:endParaRPr sz="22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Analytic Syntactic Sugar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omit </a:t>
            </a:r>
            <a:r>
              <a:rPr lang="en-US" sz="1800">
                <a:highlight>
                  <a:srgbClr val="B6D7A8"/>
                </a:highlight>
                <a:latin typeface="Courier New"/>
                <a:ea typeface="Courier New"/>
                <a:cs typeface="Courier New"/>
                <a:sym typeface="Courier New"/>
              </a:rPr>
              <a:t>SELECT *</a:t>
            </a:r>
            <a:endParaRPr sz="1800">
              <a:highlight>
                <a:srgbClr val="B6D7A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highlight>
                  <a:srgbClr val="B6D7A8"/>
                </a:highlight>
                <a:latin typeface="Courier New"/>
                <a:ea typeface="Courier New"/>
                <a:cs typeface="Courier New"/>
                <a:sym typeface="Courier New"/>
              </a:rPr>
              <a:t>GROUP BY ALL</a:t>
            </a:r>
            <a:endParaRPr sz="1800">
              <a:highlight>
                <a:srgbClr val="B6D7A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highlight>
                  <a:srgbClr val="B6D7A8"/>
                </a:highlight>
                <a:latin typeface="Courier New"/>
                <a:ea typeface="Courier New"/>
                <a:cs typeface="Courier New"/>
                <a:sym typeface="Courier New"/>
              </a:rPr>
              <a:t>SELECT * EXCEPT (col1, col2)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highlight>
                  <a:srgbClr val="B6D7A8"/>
                </a:highlight>
                <a:latin typeface="Courier New"/>
                <a:ea typeface="Courier New"/>
                <a:cs typeface="Courier New"/>
                <a:sym typeface="Courier New"/>
              </a:rPr>
              <a:t>QUALIFY</a:t>
            </a:r>
            <a:r>
              <a:rPr lang="en-US" sz="1800"/>
              <a:t> 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SELECT filter - ex: </a:t>
            </a:r>
            <a:r>
              <a:rPr lang="en-US" sz="1800">
                <a:highlight>
                  <a:srgbClr val="B6D7A8"/>
                </a:highlight>
                <a:latin typeface="Courier New"/>
                <a:ea typeface="Courier New"/>
                <a:cs typeface="Courier New"/>
                <a:sym typeface="Courier New"/>
              </a:rPr>
              <a:t>COUNT(*) FILTER (WHERE … )</a:t>
            </a:r>
            <a:endParaRPr sz="1800"/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1375" y="1907575"/>
            <a:ext cx="4407501" cy="440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